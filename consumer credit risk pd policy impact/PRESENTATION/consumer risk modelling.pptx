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0" r:id="rId3"/>
    <p:sldId id="275" r:id="rId4"/>
    <p:sldId id="258" r:id="rId5"/>
    <p:sldId id="271" r:id="rId6"/>
    <p:sldId id="266" r:id="rId7"/>
    <p:sldId id="272" r:id="rId8"/>
    <p:sldId id="276" r:id="rId9"/>
    <p:sldId id="261" r:id="rId10"/>
    <p:sldId id="277" r:id="rId11"/>
    <p:sldId id="281" r:id="rId12"/>
    <p:sldId id="267" r:id="rId13"/>
    <p:sldId id="274" r:id="rId14"/>
    <p:sldId id="278" r:id="rId15"/>
    <p:sldId id="283" r:id="rId16"/>
    <p:sldId id="279" r:id="rId1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>
      <p:cViewPr varScale="1">
        <p:scale>
          <a:sx n="83" d="100"/>
          <a:sy n="83" d="100"/>
        </p:scale>
        <p:origin x="60" y="90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CEC3D-96F7-401F-9673-3EE7F75C9C5B}" type="datetimeFigureOut">
              <a:rPr lang="en-US"/>
              <a:t>1/19/2026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ED8CD-4E4C-49AC-BDC6-2963BA49E54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2BCF4-D26D-4DAF-9F57-FE1E61FE7935}" type="datetimeFigureOut">
              <a:rPr lang="en-US"/>
              <a:t>1/19/2026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B91549-43BF-425A-AF25-7526201920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oking up to clouds and blue sky surrounded by glass-walled buildings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pPr/>
              <a:t>1/19/2026</a:t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1/19/2026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anchor="b">
            <a:normAutofit/>
          </a:bodyPr>
          <a:lstStyle>
            <a:lvl1pPr algn="l"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pPr/>
              <a:t>1/19/2026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1/19/2026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1/19/2026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1/19/2026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1/19/2026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anchor="b">
            <a:no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1/19/2026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1/19/2026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1/19/2026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3FC7-9D1A-468B-98DB-D1E8D74418D9}" type="datetimeFigureOut">
              <a:rPr lang="en-US"/>
              <a:t>1/19/2026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1473-23EB-4724-8B59-FE6D21D89FA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81C93FC7-9D1A-468B-98DB-D1E8D74418D9}" type="datetimeFigureOut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A3F31473-23EB-4724-8B59-FE6D21D89F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5950" indent="-28575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80744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6479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48840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85801"/>
            <a:ext cx="4798268" cy="2311151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Consumer Credit Risk — PD Segmentation &amp; Policy 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756" y="5157192"/>
            <a:ext cx="3962400" cy="504056"/>
          </a:xfrm>
        </p:spPr>
        <p:txBody>
          <a:bodyPr>
            <a:normAutofit fontScale="77500" lnSpcReduction="20000"/>
          </a:bodyPr>
          <a:lstStyle/>
          <a:p>
            <a:r>
              <a:rPr lang="en-US" sz="1600" dirty="0"/>
              <a:t>How borrower risk, loan structure, and approval thresholds drive defaults, losses, and risk-adjusted revenue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B63C4-BE9B-E9B5-74CF-5A713C524DAA}"/>
              </a:ext>
            </a:extLst>
          </p:cNvPr>
          <p:cNvSpPr txBox="1"/>
          <p:nvPr/>
        </p:nvSpPr>
        <p:spPr>
          <a:xfrm>
            <a:off x="-98276" y="6381328"/>
            <a:ext cx="31357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Python · SQL · Power BI | Lending Club Consumer Loans</a:t>
            </a:r>
            <a:endParaRPr lang="en-CA" sz="1000" dirty="0"/>
          </a:p>
        </p:txBody>
      </p:sp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48589" y="116632"/>
            <a:ext cx="10971372" cy="1066800"/>
          </a:xfrm>
        </p:spPr>
        <p:txBody>
          <a:bodyPr/>
          <a:lstStyle/>
          <a:p>
            <a:r>
              <a:rPr lang="en-US" dirty="0"/>
              <a:t>Business Context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950912" y="1333500"/>
            <a:ext cx="10287000" cy="41909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/>
              <a:t>Why This Analysis Matters</a:t>
            </a:r>
          </a:p>
          <a:p>
            <a:r>
              <a:rPr lang="en-US" sz="1400" dirty="0"/>
              <a:t>Consumer lending portfolios contain borrowers with widely varying risk profiles.</a:t>
            </a:r>
          </a:p>
          <a:p>
            <a:pPr marL="0" indent="0">
              <a:buNone/>
            </a:pPr>
            <a:br>
              <a:rPr lang="en-US" sz="1400" dirty="0"/>
            </a:br>
            <a:r>
              <a:rPr lang="en-US" sz="1400" dirty="0"/>
              <a:t>Uncontrolled approvals lead to:</a:t>
            </a:r>
          </a:p>
          <a:p>
            <a:r>
              <a:rPr lang="en-US" sz="1400" dirty="0"/>
              <a:t>Elevated defaults</a:t>
            </a:r>
          </a:p>
          <a:p>
            <a:r>
              <a:rPr lang="en-US" sz="1400" dirty="0"/>
              <a:t>Concentrated losses</a:t>
            </a:r>
          </a:p>
          <a:p>
            <a:r>
              <a:rPr lang="en-US" sz="1400" dirty="0"/>
              <a:t>Revenue erosion from credit losses</a:t>
            </a:r>
          </a:p>
          <a:p>
            <a:pPr marL="0" indent="0">
              <a:buNone/>
            </a:pPr>
            <a:r>
              <a:rPr lang="en-US" sz="1400" b="1" dirty="0"/>
              <a:t>Current portfolio facts:</a:t>
            </a:r>
            <a:endParaRPr lang="en-US" sz="1400" dirty="0"/>
          </a:p>
          <a:p>
            <a:r>
              <a:rPr lang="en-US" sz="1400" b="1" dirty="0"/>
              <a:t>404K loans</a:t>
            </a:r>
            <a:endParaRPr lang="en-US" sz="1400" dirty="0"/>
          </a:p>
          <a:p>
            <a:r>
              <a:rPr lang="en-US" sz="1400" b="1" dirty="0"/>
              <a:t>19.97% default rate</a:t>
            </a:r>
            <a:endParaRPr lang="en-US" sz="1400" dirty="0"/>
          </a:p>
          <a:p>
            <a:r>
              <a:rPr lang="en-US" sz="1400" b="1" dirty="0"/>
              <a:t>$1.25bn total expected loss</a:t>
            </a:r>
            <a:endParaRPr lang="en-US" sz="1400" dirty="0"/>
          </a:p>
          <a:p>
            <a:r>
              <a:rPr lang="en-US" sz="1400" b="1" dirty="0"/>
              <a:t>$3.05bn expected net revenue</a:t>
            </a:r>
            <a:endParaRPr lang="en-US" sz="1400" dirty="0"/>
          </a:p>
          <a:p>
            <a:r>
              <a:rPr lang="en-US" sz="1400" b="1" dirty="0"/>
              <a:t>Problem:</a:t>
            </a:r>
            <a:r>
              <a:rPr lang="en-US" sz="1400" dirty="0"/>
              <a:t> How do we reduce loss and protect revenue </a:t>
            </a:r>
            <a:r>
              <a:rPr lang="en-US" sz="1400" i="1" dirty="0"/>
              <a:t>without shutting down growth</a:t>
            </a:r>
            <a:r>
              <a:rPr lang="en-US" sz="1400" dirty="0"/>
              <a:t>?</a:t>
            </a:r>
          </a:p>
          <a:p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5CAF6-A4C4-22B3-051A-C9504732A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19B8A4E-6987-713C-CC18-57A7E9FBD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589" y="116632"/>
            <a:ext cx="10971372" cy="1066800"/>
          </a:xfrm>
        </p:spPr>
        <p:txBody>
          <a:bodyPr/>
          <a:lstStyle/>
          <a:p>
            <a:r>
              <a:rPr lang="en-US" dirty="0"/>
              <a:t>Core Business 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772817E-4CA1-8664-1C38-98A418E94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912" y="1333500"/>
            <a:ext cx="10287000" cy="4190999"/>
          </a:xfrm>
        </p:spPr>
        <p:txBody>
          <a:bodyPr>
            <a:normAutofit/>
          </a:bodyPr>
          <a:lstStyle/>
          <a:p>
            <a:endParaRPr lang="en-US" sz="1400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A2369C-E93F-813A-B642-78A3170B4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930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94EAA-74DF-69B3-EB62-627CC7B2A4DF}"/>
              </a:ext>
            </a:extLst>
          </p:cNvPr>
          <p:cNvSpPr txBox="1"/>
          <p:nvPr/>
        </p:nvSpPr>
        <p:spPr>
          <a:xfrm>
            <a:off x="1413892" y="1844824"/>
            <a:ext cx="85754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Can borrowers be reliably rank-ordered by default risk?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Where is expected loss concentrated across borrower segments?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How does a PD-based approval policy change portfolio risk, loss, and revenue?</a:t>
            </a:r>
            <a:endParaRPr lang="en-CA" sz="2000" b="1" dirty="0"/>
          </a:p>
        </p:txBody>
      </p:sp>
    </p:spTree>
    <p:extLst>
      <p:ext uri="{BB962C8B-B14F-4D97-AF65-F5344CB8AC3E}">
        <p14:creationId xmlns:p14="http://schemas.microsoft.com/office/powerpoint/2010/main" val="504843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548680"/>
            <a:ext cx="8229599" cy="762000"/>
          </a:xfrm>
        </p:spPr>
        <p:txBody>
          <a:bodyPr>
            <a:normAutofit/>
          </a:bodyPr>
          <a:lstStyle/>
          <a:p>
            <a:r>
              <a:rPr lang="en-US" sz="2800" dirty="0"/>
              <a:t>DATA AND METHODOLOGY(High Level)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425" y="1988840"/>
            <a:ext cx="8231187" cy="4183360"/>
          </a:xfrm>
        </p:spPr>
        <p:txBody>
          <a:bodyPr>
            <a:normAutofit fontScale="92500" lnSpcReduction="10000"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Dataset: Consumer installment loans (≈ 404K observations)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Target: Default (Charged-Off / Default = 1)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latin typeface="Arial" panose="020B0604020202020204" pitchFamily="34" charset="0"/>
              </a:rPr>
              <a:t>Methodology: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Logistic Regression with WOE encoding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PD segmentation into deciles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latin typeface="Arial" panose="020B0604020202020204" pitchFamily="34" charset="0"/>
              </a:rPr>
              <a:t>Outputs: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Probability of Default (PD)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Expected Loss (EL)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CA" sz="2000" dirty="0"/>
              <a:t>Expected Net Revenue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000" dirty="0">
              <a:latin typeface="Arial" panose="020B0604020202020204" pitchFamily="34" charset="0"/>
            </a:endParaRPr>
          </a:p>
          <a:p>
            <a:r>
              <a:rPr lang="en-US" sz="2000" dirty="0"/>
              <a:t>Validation focus:</a:t>
            </a:r>
          </a:p>
          <a:p>
            <a:r>
              <a:rPr lang="en-US" sz="2000" b="1" dirty="0"/>
              <a:t>Rank-ordering</a:t>
            </a:r>
            <a:endParaRPr lang="en-US" sz="2000" dirty="0"/>
          </a:p>
          <a:p>
            <a:r>
              <a:rPr lang="en-US" sz="2000" b="1" dirty="0"/>
              <a:t>Stability</a:t>
            </a:r>
            <a:endParaRPr lang="en-US" sz="2000" dirty="0"/>
          </a:p>
          <a:p>
            <a:r>
              <a:rPr lang="en-US" sz="2000" b="1" dirty="0"/>
              <a:t>Interpretability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9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CA25705-0B1B-7889-8FE9-9729E83A9142}"/>
              </a:ext>
            </a:extLst>
          </p:cNvPr>
          <p:cNvSpPr txBox="1"/>
          <p:nvPr/>
        </p:nvSpPr>
        <p:spPr>
          <a:xfrm>
            <a:off x="2854052" y="260647"/>
            <a:ext cx="6336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Consumer Credit Risk – PD Segmentation &amp; Policy Impact</a:t>
            </a:r>
            <a:endParaRPr lang="en-CA" sz="1400" b="1" dirty="0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8BE97ED5-E5F2-D99F-B28C-C43E560C20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900" y="692695"/>
            <a:ext cx="8784976" cy="577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166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88840"/>
            <a:ext cx="10971372" cy="1973560"/>
          </a:xfrm>
        </p:spPr>
        <p:txBody>
          <a:bodyPr>
            <a:normAutofit fontScale="90000"/>
          </a:bodyPr>
          <a:lstStyle/>
          <a:p>
            <a:r>
              <a:rPr lang="en-CA" sz="1600" b="1" dirty="0"/>
              <a:t>Evidence: PD Decile Performance</a:t>
            </a:r>
            <a:br>
              <a:rPr lang="en-CA" sz="1600" b="1" dirty="0"/>
            </a:br>
            <a:br>
              <a:rPr lang="en-CA" sz="1600" dirty="0"/>
            </a:br>
            <a:r>
              <a:rPr lang="en-CA" sz="1300" dirty="0"/>
              <a:t>Default rates rise monotonically from:</a:t>
            </a:r>
            <a:br>
              <a:rPr lang="en-CA" sz="1600" dirty="0"/>
            </a:br>
            <a:r>
              <a:rPr lang="en-CA" sz="1600" b="1" dirty="0"/>
              <a:t>~4% (lowest PD decile)</a:t>
            </a:r>
            <a:br>
              <a:rPr lang="en-CA" sz="1600" dirty="0"/>
            </a:br>
            <a:r>
              <a:rPr lang="en-CA" sz="1600" dirty="0"/>
              <a:t>to </a:t>
            </a:r>
            <a:r>
              <a:rPr lang="en-CA" sz="1600" b="1" dirty="0"/>
              <a:t>~45% (highest PD decile)</a:t>
            </a:r>
            <a:br>
              <a:rPr lang="en-CA" sz="1600" b="1" dirty="0"/>
            </a:br>
            <a:br>
              <a:rPr lang="en-CA" sz="1600" dirty="0"/>
            </a:br>
            <a:r>
              <a:rPr lang="en-CA" sz="1300" dirty="0"/>
              <a:t>Strong separation across risk bands</a:t>
            </a:r>
            <a:br>
              <a:rPr lang="en-CA" sz="1600" dirty="0"/>
            </a:br>
            <a:r>
              <a:rPr lang="en-CA" sz="1600" dirty="0"/>
              <a:t>KS ≈ </a:t>
            </a:r>
            <a:r>
              <a:rPr lang="en-CA" sz="1600" b="1" dirty="0"/>
              <a:t>30</a:t>
            </a:r>
            <a:br>
              <a:rPr lang="en-CA" sz="1600" dirty="0"/>
            </a:br>
            <a:r>
              <a:rPr lang="en-CA" sz="1600" b="1" dirty="0"/>
              <a:t>Answer to Q1:</a:t>
            </a:r>
            <a:br>
              <a:rPr lang="en-CA" sz="1600" dirty="0"/>
            </a:br>
            <a:r>
              <a:rPr lang="en-US" sz="1600" dirty="0"/>
              <a:t>Yes. The model consistently ranks borrowers from safer to riskier, with default rates increasing sharply across risk groups. This provides a reliable basis for approval and policy decisions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51900-E236-A6D5-1813-39473654E65F}"/>
              </a:ext>
            </a:extLst>
          </p:cNvPr>
          <p:cNvSpPr txBox="1"/>
          <p:nvPr/>
        </p:nvSpPr>
        <p:spPr>
          <a:xfrm>
            <a:off x="981844" y="908720"/>
            <a:ext cx="5976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b="1" dirty="0"/>
              <a:t>ANSWERING Q1: MODEL RISK RANKING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C3739-733B-9CB6-409D-B2085950D8DD}"/>
              </a:ext>
            </a:extLst>
          </p:cNvPr>
          <p:cNvSpPr txBox="1"/>
          <p:nvPr/>
        </p:nvSpPr>
        <p:spPr>
          <a:xfrm>
            <a:off x="1809936" y="1308830"/>
            <a:ext cx="4320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" panose="020B0604020202020204" pitchFamily="34" charset="0"/>
              </a:rPr>
              <a:t>Can borrowers be reliably rank-ordered by default risk?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4449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5661248"/>
            <a:ext cx="10971372" cy="510952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/>
              <a:t>ANSWERING Q2: RISK CONCENTRATION (GRADE × TERM)</a:t>
            </a:r>
            <a:endParaRPr lang="en-CA" sz="2400" b="1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Key facts:</a:t>
            </a:r>
          </a:p>
          <a:p>
            <a:r>
              <a:rPr lang="en-US" sz="1700" dirty="0"/>
              <a:t>Default risk increases from </a:t>
            </a:r>
            <a:r>
              <a:rPr lang="en-US" sz="1700" b="1" dirty="0"/>
              <a:t>Grade A → Grade G</a:t>
            </a:r>
            <a:endParaRPr lang="en-US" sz="1700" dirty="0"/>
          </a:p>
          <a:p>
            <a:r>
              <a:rPr lang="en-US" sz="1700" b="1" dirty="0"/>
              <a:t>60-month loans consistently default more than 36-month loans</a:t>
            </a:r>
            <a:endParaRPr lang="en-US" sz="1700" dirty="0"/>
          </a:p>
          <a:p>
            <a:r>
              <a:rPr lang="en-US" sz="1600" dirty="0"/>
              <a:t>Highest-risk segment:</a:t>
            </a:r>
          </a:p>
          <a:p>
            <a:pPr lvl="1"/>
            <a:r>
              <a:rPr lang="en-US" sz="1600" b="1" dirty="0"/>
              <a:t>Grade G, 60 months ≈ 49% default rate</a:t>
            </a:r>
            <a:endParaRPr lang="en-US" sz="1600" dirty="0"/>
          </a:p>
          <a:p>
            <a:r>
              <a:rPr lang="en-US" sz="1400" b="1" dirty="0"/>
              <a:t>Answer to Q2 (Part 1):</a:t>
            </a:r>
            <a:br>
              <a:rPr lang="en-US" sz="1400" dirty="0"/>
            </a:br>
            <a:r>
              <a:rPr lang="en-US" sz="1400" dirty="0"/>
              <a:t>✔ Risk is </a:t>
            </a:r>
            <a:r>
              <a:rPr lang="en-US" sz="1400" b="1" dirty="0"/>
              <a:t>concentrated</a:t>
            </a:r>
            <a:r>
              <a:rPr lang="en-US" sz="1400" dirty="0"/>
              <a:t>, not evenly distributed — driven by </a:t>
            </a:r>
            <a:r>
              <a:rPr lang="en-US" sz="1400" b="1" dirty="0"/>
              <a:t>lower grades and longer tenors</a:t>
            </a:r>
            <a:r>
              <a:rPr lang="en-US" sz="1400" dirty="0"/>
              <a:t>.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F089767-B8FC-13A5-9AC1-F00940FDA3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46540" y="836712"/>
            <a:ext cx="3517031" cy="33192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7F45CD-19FF-DDB4-2DFA-4259808CFDD6}"/>
              </a:ext>
            </a:extLst>
          </p:cNvPr>
          <p:cNvSpPr txBox="1"/>
          <p:nvPr/>
        </p:nvSpPr>
        <p:spPr>
          <a:xfrm>
            <a:off x="3934172" y="6151240"/>
            <a:ext cx="88569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" panose="020B0604020202020204" pitchFamily="34" charset="0"/>
              </a:rPr>
              <a:t>Where is expected loss concentrated across borrower segments?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400" b="1" dirty="0">
              <a:latin typeface="Arial" panose="020B0604020202020204" pitchFamily="34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32757AC-0275-039B-E4EF-75EA15B7940D}"/>
              </a:ext>
            </a:extLst>
          </p:cNvPr>
          <p:cNvSpPr/>
          <p:nvPr/>
        </p:nvSpPr>
        <p:spPr>
          <a:xfrm>
            <a:off x="6022404" y="1484784"/>
            <a:ext cx="792088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1825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9DC70-AC2D-6309-5BFF-F199DDDD3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FF9B5-CB50-885C-BC59-23D56E0D0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276" y="1700808"/>
            <a:ext cx="10971372" cy="1872208"/>
          </a:xfrm>
        </p:spPr>
        <p:txBody>
          <a:bodyPr>
            <a:normAutofit fontScale="90000"/>
          </a:bodyPr>
          <a:lstStyle/>
          <a:p>
            <a:r>
              <a:rPr lang="en-US" sz="2000" b="1" dirty="0"/>
              <a:t>Average Expected Loss by Grade</a:t>
            </a:r>
            <a:br>
              <a:rPr lang="en-US" sz="2000" b="1" dirty="0"/>
            </a:br>
            <a:br>
              <a:rPr lang="en-US" sz="2000" dirty="0"/>
            </a:br>
            <a:r>
              <a:rPr lang="en-US" sz="2000" dirty="0"/>
              <a:t>Expected loss increases sharply from </a:t>
            </a:r>
            <a:r>
              <a:rPr lang="en-US" sz="2000" b="1" dirty="0"/>
              <a:t>Grade A → G</a:t>
            </a:r>
            <a:br>
              <a:rPr lang="en-US" sz="2000" b="1" dirty="0"/>
            </a:br>
            <a:br>
              <a:rPr lang="en-US" sz="2000" dirty="0"/>
            </a:br>
            <a:r>
              <a:rPr lang="en-US" sz="2000" dirty="0"/>
              <a:t>Lower grades contribute </a:t>
            </a:r>
            <a:r>
              <a:rPr lang="en-US" sz="2000" b="1" dirty="0"/>
              <a:t>disproportionately higher loss per loan</a:t>
            </a:r>
            <a:br>
              <a:rPr lang="en-US" sz="2000" b="1" dirty="0"/>
            </a:br>
            <a:br>
              <a:rPr lang="en-US" sz="2000" dirty="0"/>
            </a:br>
            <a:r>
              <a:rPr lang="en-US" sz="2000" b="1" dirty="0"/>
              <a:t>Answer to Q2 (Part 2):</a:t>
            </a:r>
            <a:br>
              <a:rPr lang="en-US" sz="2000" dirty="0"/>
            </a:br>
            <a:r>
              <a:rPr lang="en-US" sz="2000" dirty="0"/>
              <a:t>✔ Loss is driven by </a:t>
            </a:r>
            <a:r>
              <a:rPr lang="en-US" sz="2000" b="1" dirty="0"/>
              <a:t>risk layering</a:t>
            </a:r>
            <a:r>
              <a:rPr lang="en-US" sz="2000" dirty="0"/>
              <a:t> — </a:t>
            </a:r>
            <a:r>
              <a:rPr lang="en-US" sz="2000" b="1" dirty="0"/>
              <a:t>weak borrower quality </a:t>
            </a:r>
            <a:r>
              <a:rPr lang="en-US" sz="2000" dirty="0"/>
              <a:t>combined with </a:t>
            </a:r>
            <a:r>
              <a:rPr lang="en-US" sz="2000" b="1" dirty="0"/>
              <a:t>longer exposure duration</a:t>
            </a:r>
            <a:r>
              <a:rPr lang="en-US" sz="20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F1A0E1-E176-B340-E5EE-EBCBF790BD8F}"/>
              </a:ext>
            </a:extLst>
          </p:cNvPr>
          <p:cNvSpPr txBox="1"/>
          <p:nvPr/>
        </p:nvSpPr>
        <p:spPr>
          <a:xfrm>
            <a:off x="1125860" y="764704"/>
            <a:ext cx="7056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ANSWERING Q2: </a:t>
            </a:r>
            <a:r>
              <a:rPr lang="en-CA" sz="2000" dirty="0"/>
              <a:t>EXPECTED LOSS CONCENTRATION</a:t>
            </a:r>
            <a:endParaRPr lang="en-CA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3915F-0CD4-9C4D-176B-42CB45FDE4C2}"/>
              </a:ext>
            </a:extLst>
          </p:cNvPr>
          <p:cNvSpPr txBox="1"/>
          <p:nvPr/>
        </p:nvSpPr>
        <p:spPr>
          <a:xfrm>
            <a:off x="3502124" y="1183508"/>
            <a:ext cx="8136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Which segments drive expected loss?</a:t>
            </a:r>
          </a:p>
        </p:txBody>
      </p:sp>
    </p:spTree>
    <p:extLst>
      <p:ext uri="{BB962C8B-B14F-4D97-AF65-F5344CB8AC3E}">
        <p14:creationId xmlns:p14="http://schemas.microsoft.com/office/powerpoint/2010/main" val="220134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6528940" cy="990600"/>
          </a:xfrm>
        </p:spPr>
        <p:txBody>
          <a:bodyPr>
            <a:normAutofit/>
          </a:bodyPr>
          <a:lstStyle/>
          <a:p>
            <a:r>
              <a:rPr lang="en-US" sz="2400" dirty="0"/>
              <a:t>BASELINE: CURRENT STATE (BEFORE POLICY)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10417372" cy="3200400"/>
          </a:xfrm>
        </p:spPr>
        <p:txBody>
          <a:bodyPr>
            <a:normAutofit fontScale="47500" lnSpcReduction="20000"/>
          </a:bodyPr>
          <a:lstStyle/>
          <a:p>
            <a:r>
              <a:rPr lang="en-CA" b="1" dirty="0"/>
              <a:t>Applicant Portfolio — Current State</a:t>
            </a:r>
          </a:p>
          <a:p>
            <a:r>
              <a:rPr lang="en-CA" b="1" dirty="0"/>
              <a:t>Facts:</a:t>
            </a:r>
            <a:endParaRPr lang="en-CA" dirty="0"/>
          </a:p>
          <a:p>
            <a:r>
              <a:rPr lang="en-CA" dirty="0"/>
              <a:t>Loans: </a:t>
            </a:r>
            <a:r>
              <a:rPr lang="en-CA" b="1" dirty="0"/>
              <a:t>404K</a:t>
            </a:r>
            <a:endParaRPr lang="en-CA" dirty="0"/>
          </a:p>
          <a:p>
            <a:r>
              <a:rPr lang="en-CA" dirty="0"/>
              <a:t>Default Rate: </a:t>
            </a:r>
            <a:r>
              <a:rPr lang="en-CA" b="1" dirty="0"/>
              <a:t>19.97%</a:t>
            </a:r>
            <a:endParaRPr lang="en-CA" dirty="0"/>
          </a:p>
          <a:p>
            <a:r>
              <a:rPr lang="en-CA" dirty="0"/>
              <a:t>Avg Expected Loss: </a:t>
            </a:r>
            <a:r>
              <a:rPr lang="en-CA" b="1" dirty="0"/>
              <a:t>11.97%</a:t>
            </a:r>
            <a:endParaRPr lang="en-CA" dirty="0"/>
          </a:p>
          <a:p>
            <a:r>
              <a:rPr lang="en-CA" dirty="0"/>
              <a:t>Total Expected Loss: </a:t>
            </a:r>
            <a:r>
              <a:rPr lang="en-CA" b="1" dirty="0"/>
              <a:t>$1.25bn</a:t>
            </a:r>
            <a:endParaRPr lang="en-CA" dirty="0"/>
          </a:p>
          <a:p>
            <a:r>
              <a:rPr lang="en-CA" dirty="0"/>
              <a:t>Expected Net Revenue: </a:t>
            </a:r>
            <a:r>
              <a:rPr lang="en-CA" b="1" dirty="0"/>
              <a:t>$3.05bn</a:t>
            </a:r>
            <a:endParaRPr lang="en-CA" dirty="0"/>
          </a:p>
          <a:p>
            <a:r>
              <a:rPr lang="en-CA" b="1" dirty="0"/>
              <a:t>Interpretation:</a:t>
            </a:r>
            <a:br>
              <a:rPr lang="en-CA" dirty="0"/>
            </a:br>
            <a:r>
              <a:rPr lang="en-CA" dirty="0"/>
              <a:t>The unrestricted portfolio carries </a:t>
            </a:r>
            <a:r>
              <a:rPr lang="en-CA" b="1" dirty="0"/>
              <a:t>material embedded risk</a:t>
            </a:r>
            <a:r>
              <a:rPr lang="en-CA" dirty="0"/>
              <a:t> that erodes revenue.</a:t>
            </a:r>
          </a:p>
          <a:p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63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3D4A1-3E2D-E915-443E-8D7CF3BD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B8616D4-A823-AE47-E29D-8A33E0C36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952876" cy="726976"/>
          </a:xfrm>
        </p:spPr>
        <p:txBody>
          <a:bodyPr>
            <a:normAutofit/>
          </a:bodyPr>
          <a:lstStyle/>
          <a:p>
            <a:r>
              <a:rPr lang="en-CA" sz="2400" dirty="0"/>
              <a:t>PROPOSED APPROVAL POLICY</a:t>
            </a:r>
            <a:endParaRPr lang="en-US" sz="24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50B9257-E845-3EF2-E135-48702B66C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10417372" cy="32004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PD-Based Approval Rule</a:t>
            </a:r>
          </a:p>
          <a:p>
            <a:r>
              <a:rPr lang="en-US" dirty="0"/>
              <a:t>Approve borrowers </a:t>
            </a:r>
            <a:r>
              <a:rPr lang="en-US" b="1" dirty="0"/>
              <a:t>up to PD cutoff</a:t>
            </a:r>
            <a:endParaRPr lang="en-US" dirty="0"/>
          </a:p>
          <a:p>
            <a:r>
              <a:rPr lang="en-US" dirty="0"/>
              <a:t>Exclude highest-risk PD deciles</a:t>
            </a:r>
          </a:p>
          <a:p>
            <a:r>
              <a:rPr lang="en-US" dirty="0"/>
              <a:t>Objective:</a:t>
            </a:r>
          </a:p>
          <a:p>
            <a:pPr lvl="1"/>
            <a:r>
              <a:rPr lang="en-US" dirty="0"/>
              <a:t>Reduce expected loss</a:t>
            </a:r>
          </a:p>
          <a:p>
            <a:pPr lvl="1"/>
            <a:r>
              <a:rPr lang="en-US" dirty="0"/>
              <a:t>Preserve meaningful approval volume</a:t>
            </a:r>
          </a:p>
          <a:p>
            <a:pPr lvl="1"/>
            <a:r>
              <a:rPr lang="en-US" dirty="0"/>
              <a:t>Improve risk-adjusted outcomes</a:t>
            </a:r>
          </a:p>
          <a:p>
            <a:r>
              <a:rPr lang="en-US" dirty="0"/>
              <a:t>This policy is evaluated against the full applicant pool.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175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DC7F1-36DE-AA16-16E5-FCC7E26F3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7833127-91E2-B09C-A425-AA71B2560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952876" cy="726976"/>
          </a:xfrm>
        </p:spPr>
        <p:txBody>
          <a:bodyPr>
            <a:normAutofit/>
          </a:bodyPr>
          <a:lstStyle/>
          <a:p>
            <a:r>
              <a:rPr lang="en-CA" sz="2000" dirty="0"/>
              <a:t>POLICY OUTCOME (AFTER IMPLEMENTATION)</a:t>
            </a:r>
            <a:endParaRPr lang="en-US" sz="20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EF9D02A-D195-6F1D-12F4-7BE965B1D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10417372" cy="3200400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Approved Portfolio — Policy Outcome</a:t>
            </a:r>
          </a:p>
          <a:p>
            <a:r>
              <a:rPr lang="en-US" b="1" dirty="0"/>
              <a:t>Facts:</a:t>
            </a:r>
            <a:endParaRPr lang="en-US" dirty="0"/>
          </a:p>
          <a:p>
            <a:r>
              <a:rPr lang="en-US" dirty="0"/>
              <a:t>Approved Loans: </a:t>
            </a:r>
            <a:r>
              <a:rPr lang="en-US" b="1" dirty="0"/>
              <a:t>242K</a:t>
            </a:r>
            <a:endParaRPr lang="en-US" dirty="0"/>
          </a:p>
          <a:p>
            <a:r>
              <a:rPr lang="en-US" dirty="0"/>
              <a:t>Approval Rate: </a:t>
            </a:r>
            <a:r>
              <a:rPr lang="en-US" b="1" dirty="0"/>
              <a:t>60.0%</a:t>
            </a:r>
            <a:endParaRPr lang="en-US" dirty="0"/>
          </a:p>
          <a:p>
            <a:r>
              <a:rPr lang="en-US" dirty="0"/>
              <a:t>Approved Default Rate: </a:t>
            </a:r>
            <a:r>
              <a:rPr lang="en-US" b="1" dirty="0"/>
              <a:t>11.96%</a:t>
            </a:r>
            <a:endParaRPr lang="en-US" dirty="0"/>
          </a:p>
          <a:p>
            <a:r>
              <a:rPr lang="en-US" dirty="0"/>
              <a:t>Avg Expected Loss: </a:t>
            </a:r>
            <a:r>
              <a:rPr lang="en-US" b="1" dirty="0"/>
              <a:t>7.14%</a:t>
            </a:r>
            <a:endParaRPr lang="en-US" dirty="0"/>
          </a:p>
          <a:p>
            <a:r>
              <a:rPr lang="en-US" dirty="0"/>
              <a:t>Total Expected Loss: </a:t>
            </a:r>
            <a:r>
              <a:rPr lang="en-US" b="1" dirty="0"/>
              <a:t>$382M</a:t>
            </a:r>
            <a:endParaRPr lang="en-US" dirty="0"/>
          </a:p>
          <a:p>
            <a:r>
              <a:rPr lang="en-US" dirty="0"/>
              <a:t>Expected Net Revenue: </a:t>
            </a:r>
            <a:r>
              <a:rPr lang="en-US" b="1" dirty="0"/>
              <a:t>$1.08bn</a:t>
            </a:r>
            <a:endParaRPr lang="en-US" dirty="0"/>
          </a:p>
          <a:p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609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8A5568-1640-C1D0-9066-4143A759013B}"/>
              </a:ext>
            </a:extLst>
          </p:cNvPr>
          <p:cNvSpPr txBox="1"/>
          <p:nvPr/>
        </p:nvSpPr>
        <p:spPr>
          <a:xfrm>
            <a:off x="2998068" y="860036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ANSWERING Q3: BEFORE vs AFTER IMPACT</a:t>
            </a:r>
            <a:endParaRPr lang="en-CA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B45530-7227-FA81-20B8-AD959E9AB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108129"/>
              </p:ext>
            </p:extLst>
          </p:nvPr>
        </p:nvGraphicFramePr>
        <p:xfrm>
          <a:off x="1197868" y="1997655"/>
          <a:ext cx="10287000" cy="3401166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82624767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57051813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3799337186"/>
                    </a:ext>
                  </a:extLst>
                </a:gridCol>
              </a:tblGrid>
              <a:tr h="566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Before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After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659613"/>
                  </a:ext>
                </a:extLst>
              </a:tr>
              <a:tr h="566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Loans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404K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242K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318218"/>
                  </a:ext>
                </a:extLst>
              </a:tr>
              <a:tr h="566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Default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19.97%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11.96%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653335"/>
                  </a:ext>
                </a:extLst>
              </a:tr>
              <a:tr h="566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Avg Expected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11.97%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7.14%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843722"/>
                  </a:ext>
                </a:extLst>
              </a:tr>
              <a:tr h="566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Total Expected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$1.25bn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$382M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829547"/>
                  </a:ext>
                </a:extLst>
              </a:tr>
              <a:tr h="566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Expected Net Revenue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$3.05bn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$1.08bn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095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F5BA0B5-3D25-3B27-DDB9-3403FDC19A3D}"/>
              </a:ext>
            </a:extLst>
          </p:cNvPr>
          <p:cNvSpPr txBox="1"/>
          <p:nvPr/>
        </p:nvSpPr>
        <p:spPr>
          <a:xfrm>
            <a:off x="2982382" y="116410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dirty="0">
                <a:latin typeface="Arial" panose="020B0604020202020204" pitchFamily="34" charset="0"/>
              </a:rPr>
              <a:t>How does a PD-based approval policy change portfolio risk, loss, and revenue?</a:t>
            </a:r>
            <a:endParaRPr lang="en-CA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21D2BD-1DB0-009D-1A34-98A8BB9ECBF1}"/>
              </a:ext>
            </a:extLst>
          </p:cNvPr>
          <p:cNvSpPr txBox="1"/>
          <p:nvPr/>
        </p:nvSpPr>
        <p:spPr>
          <a:xfrm>
            <a:off x="1138436" y="1656172"/>
            <a:ext cx="2795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/>
              <a:t>Portfolio Performance Comparison</a:t>
            </a:r>
          </a:p>
        </p:txBody>
      </p:sp>
    </p:spTree>
    <p:extLst>
      <p:ext uri="{BB962C8B-B14F-4D97-AF65-F5344CB8AC3E}">
        <p14:creationId xmlns:p14="http://schemas.microsoft.com/office/powerpoint/2010/main" val="62705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796" y="1308895"/>
            <a:ext cx="6704171" cy="5486400"/>
          </a:xfrm>
        </p:spPr>
        <p:txBody>
          <a:bodyPr>
            <a:normAutofit/>
          </a:bodyPr>
          <a:lstStyle/>
          <a:p>
            <a:r>
              <a:rPr lang="en-US" sz="2000" b="1" dirty="0"/>
              <a:t>Risk-Adjusted Profitability</a:t>
            </a:r>
          </a:p>
          <a:p>
            <a:r>
              <a:rPr lang="en-US" sz="2000" b="1" dirty="0"/>
              <a:t>Loss / Revenue Ratio</a:t>
            </a:r>
            <a:endParaRPr lang="en-US" sz="2000" dirty="0"/>
          </a:p>
          <a:p>
            <a:r>
              <a:rPr lang="en-US" sz="2000" b="1" dirty="0"/>
              <a:t>Current State:</a:t>
            </a:r>
            <a:r>
              <a:rPr lang="en-US" sz="2000" dirty="0"/>
              <a:t> </a:t>
            </a:r>
            <a:r>
              <a:rPr lang="en-US" sz="2000" b="1" dirty="0"/>
              <a:t>41%</a:t>
            </a:r>
            <a:endParaRPr lang="en-US" sz="2000" dirty="0"/>
          </a:p>
          <a:p>
            <a:r>
              <a:rPr lang="en-US" sz="2000" b="1" dirty="0"/>
              <a:t>After PD Policy:</a:t>
            </a:r>
            <a:r>
              <a:rPr lang="en-US" sz="2000" dirty="0"/>
              <a:t> </a:t>
            </a:r>
            <a:r>
              <a:rPr lang="en-US" sz="2000" b="1" dirty="0"/>
              <a:t>35%</a:t>
            </a:r>
            <a:endParaRPr lang="en-US" sz="2000" dirty="0"/>
          </a:p>
          <a:p>
            <a:r>
              <a:rPr lang="en-US" sz="2000" b="1" dirty="0"/>
              <a:t>Interpretation:</a:t>
            </a:r>
            <a:endParaRPr lang="en-US" sz="2000" dirty="0"/>
          </a:p>
          <a:p>
            <a:r>
              <a:rPr lang="en-US" sz="2000" dirty="0"/>
              <a:t>For every $1 of revenue:</a:t>
            </a:r>
          </a:p>
          <a:p>
            <a:pPr lvl="1"/>
            <a:r>
              <a:rPr lang="en-US" sz="2000" b="1" dirty="0"/>
              <a:t>$0.41</a:t>
            </a:r>
            <a:r>
              <a:rPr lang="en-US" sz="2000" dirty="0"/>
              <a:t> is lost to credit risk before policy</a:t>
            </a:r>
          </a:p>
          <a:p>
            <a:pPr lvl="1"/>
            <a:r>
              <a:rPr lang="en-US" sz="2000" b="1" dirty="0"/>
              <a:t>$0.35</a:t>
            </a:r>
            <a:r>
              <a:rPr lang="en-US" sz="2000" dirty="0"/>
              <a:t> after policy</a:t>
            </a:r>
          </a:p>
          <a:p>
            <a:r>
              <a:rPr lang="en-US" sz="2000" b="1" dirty="0"/>
              <a:t>Answer to Q3 (Economics):</a:t>
            </a:r>
            <a:br>
              <a:rPr lang="en-US" sz="2000" dirty="0"/>
            </a:br>
            <a:r>
              <a:rPr lang="en-US" sz="2000" dirty="0"/>
              <a:t>✔ The policy improves </a:t>
            </a:r>
            <a:r>
              <a:rPr lang="en-US" sz="2000" b="1" dirty="0"/>
              <a:t>revenue quality</a:t>
            </a:r>
            <a:r>
              <a:rPr lang="en-US" sz="2000" dirty="0"/>
              <a:t>, not just risk metrics.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22731" y="404664"/>
            <a:ext cx="3962400" cy="762000"/>
          </a:xfrm>
        </p:spPr>
        <p:txBody>
          <a:bodyPr/>
          <a:lstStyle/>
          <a:p>
            <a:r>
              <a:rPr lang="en-CA" dirty="0"/>
              <a:t>NEW INSIGHT: LOSS / REVENUE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344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E0F4F-87D9-81BA-E25B-B4E391DCE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4642B-827A-391B-21BE-F9BE5011C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796" y="1308895"/>
            <a:ext cx="6704171" cy="5486400"/>
          </a:xfrm>
        </p:spPr>
        <p:txBody>
          <a:bodyPr/>
          <a:lstStyle/>
          <a:p>
            <a:r>
              <a:rPr lang="en-US" b="1" dirty="0"/>
              <a:t>What This Means</a:t>
            </a:r>
          </a:p>
          <a:p>
            <a:r>
              <a:rPr lang="en-US" dirty="0"/>
              <a:t>PD modeling enables </a:t>
            </a:r>
            <a:r>
              <a:rPr lang="en-US" b="1" dirty="0"/>
              <a:t>reliable borrower ranking</a:t>
            </a:r>
            <a:endParaRPr lang="en-US" dirty="0"/>
          </a:p>
          <a:p>
            <a:r>
              <a:rPr lang="en-US" dirty="0"/>
              <a:t>Risk and loss are </a:t>
            </a:r>
            <a:r>
              <a:rPr lang="en-US" b="1" dirty="0"/>
              <a:t>highly concentrated</a:t>
            </a:r>
            <a:endParaRPr lang="en-US" dirty="0"/>
          </a:p>
          <a:p>
            <a:r>
              <a:rPr lang="en-US" dirty="0"/>
              <a:t>PD-based approval:</a:t>
            </a:r>
          </a:p>
          <a:p>
            <a:pPr lvl="1"/>
            <a:r>
              <a:rPr lang="en-US" dirty="0"/>
              <a:t>Reduces expected loss by </a:t>
            </a:r>
            <a:r>
              <a:rPr lang="en-US" b="1" dirty="0"/>
              <a:t>~70%</a:t>
            </a:r>
            <a:endParaRPr lang="en-US" dirty="0"/>
          </a:p>
          <a:p>
            <a:pPr lvl="1"/>
            <a:r>
              <a:rPr lang="en-US" dirty="0"/>
              <a:t>Improves loss-to-revenue efficiency by </a:t>
            </a:r>
            <a:r>
              <a:rPr lang="en-US" b="1" dirty="0"/>
              <a:t>6 percentage points</a:t>
            </a:r>
            <a:endParaRPr lang="en-US" dirty="0"/>
          </a:p>
          <a:p>
            <a:pPr lvl="1"/>
            <a:r>
              <a:rPr lang="en-US" dirty="0"/>
              <a:t>Maintains </a:t>
            </a:r>
            <a:r>
              <a:rPr lang="en-US" b="1" dirty="0"/>
              <a:t>60% approval rate</a:t>
            </a:r>
            <a:endParaRPr lang="en-US" dirty="0"/>
          </a:p>
          <a:p>
            <a:r>
              <a:rPr lang="en-US" dirty="0"/>
              <a:t>This is a </a:t>
            </a:r>
            <a:r>
              <a:rPr lang="en-US" b="1" dirty="0"/>
              <a:t>risk-adjusted optimization</a:t>
            </a:r>
            <a:r>
              <a:rPr lang="en-US" dirty="0"/>
              <a:t>, not volume maximization.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41697-D771-537E-CAE8-60274F2C2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22731" y="404664"/>
            <a:ext cx="3962400" cy="762000"/>
          </a:xfrm>
        </p:spPr>
        <p:txBody>
          <a:bodyPr/>
          <a:lstStyle/>
          <a:p>
            <a:r>
              <a:rPr lang="en-CA" dirty="0"/>
              <a:t>FINAL INTERPRETATION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315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D34E3-4B8D-485F-F4FA-5003C2A13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66382-86F9-2C65-F96C-1E544145F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22731" y="404664"/>
            <a:ext cx="3962400" cy="432048"/>
          </a:xfrm>
        </p:spPr>
        <p:txBody>
          <a:bodyPr/>
          <a:lstStyle/>
          <a:p>
            <a:r>
              <a:rPr lang="en-CA" b="1" dirty="0"/>
              <a:t>Key Assumptions &amp; Limitations</a:t>
            </a:r>
            <a:endParaRPr lang="en-US" b="1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921ABD-1463-AEBB-CB58-5A71869300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3772" y="1535306"/>
            <a:ext cx="8857505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 Loss estimated as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PD × Loan Amount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(LGD ≈ 100%, EAD ≈ exposure)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 revenue approximated using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contractual interest rate and loan term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assumes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borrower behavior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 the approval policy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reflect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realized, outcomes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Pricing optimization and recovery dynamics are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 of scope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Relative risk ranking and policy impact conclusions are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directionally robust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60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CAA41-D959-F41A-BD21-D6EF8D567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65CC6-07C0-0D53-81D2-BDA40C6CD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22731" y="404664"/>
            <a:ext cx="3962400" cy="648072"/>
          </a:xfrm>
        </p:spPr>
        <p:txBody>
          <a:bodyPr>
            <a:noAutofit/>
          </a:bodyPr>
          <a:lstStyle/>
          <a:p>
            <a:pPr algn="ctr"/>
            <a:r>
              <a:rPr lang="en-CA" dirty="0"/>
              <a:t>CONCLUSION &amp; RECOMMENDATION</a:t>
            </a:r>
            <a:endParaRPr lang="en-US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352DDB7-8211-302B-5357-6A627480D1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748" y="1628800"/>
            <a:ext cx="1083822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Conclusion</a:t>
            </a:r>
          </a:p>
          <a:p>
            <a:r>
              <a:rPr lang="en-US" sz="2000" dirty="0"/>
              <a:t>The PD model is </a:t>
            </a:r>
            <a:r>
              <a:rPr lang="en-US" sz="2000" b="1" dirty="0"/>
              <a:t>fit for decisioning</a:t>
            </a:r>
            <a:endParaRPr lang="en-US" sz="2000" dirty="0"/>
          </a:p>
          <a:p>
            <a:r>
              <a:rPr lang="en-US" sz="2000" dirty="0"/>
              <a:t>Credit risk is </a:t>
            </a:r>
            <a:r>
              <a:rPr lang="en-US" sz="2000" b="1" dirty="0"/>
              <a:t>structural, not random</a:t>
            </a:r>
            <a:endParaRPr lang="en-US" sz="2000" dirty="0"/>
          </a:p>
          <a:p>
            <a:r>
              <a:rPr lang="en-US" sz="2000" dirty="0"/>
              <a:t>Approval policy materially improves:</a:t>
            </a:r>
          </a:p>
          <a:p>
            <a:pPr lvl="1"/>
            <a:r>
              <a:rPr lang="en-US" sz="2000" dirty="0"/>
              <a:t>Portfolio stability</a:t>
            </a:r>
          </a:p>
          <a:p>
            <a:pPr lvl="1"/>
            <a:r>
              <a:rPr lang="en-US" sz="2000" dirty="0"/>
              <a:t>Loss containment</a:t>
            </a:r>
          </a:p>
          <a:p>
            <a:pPr lvl="1"/>
            <a:r>
              <a:rPr lang="en-US" sz="2000" dirty="0"/>
              <a:t>Revenue efficiency</a:t>
            </a:r>
          </a:p>
          <a:p>
            <a:r>
              <a:rPr lang="en-US" sz="2000" b="1" dirty="0"/>
              <a:t>Recommendation</a:t>
            </a:r>
          </a:p>
          <a:p>
            <a:r>
              <a:rPr lang="en-US" sz="2000" dirty="0"/>
              <a:t>Adopt PD-based approval thresholds and monitor performance continuously using this framework.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751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rketing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marketing glass cube presentation (widescreen).potx" id="{454792B9-F7C6-4CDD-89A0-89451A081408}" vid="{E847D748-0CA0-4BC8-838F-3216ECA80016}"/>
    </a:ext>
  </a:extLst>
</a:theme>
</file>

<file path=ppt/theme/theme2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marketing glass cube presentation (widescreen)</Template>
  <TotalTime>2521</TotalTime>
  <Words>869</Words>
  <Application>Microsoft Office PowerPoint</Application>
  <PresentationFormat>Custom</PresentationFormat>
  <Paragraphs>146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Corbel</vt:lpstr>
      <vt:lpstr>Segoe UI Semilight</vt:lpstr>
      <vt:lpstr>Marketing 16x9</vt:lpstr>
      <vt:lpstr>Consumer Credit Risk — PD Segmentation &amp; Policy Impact</vt:lpstr>
      <vt:lpstr>Business Context</vt:lpstr>
      <vt:lpstr>Core Business Questions</vt:lpstr>
      <vt:lpstr>DATA AND METHODOLOGY(High Level)</vt:lpstr>
      <vt:lpstr>PowerPoint Presentation</vt:lpstr>
      <vt:lpstr>Evidence: PD Decile Performance  Default rates rise monotonically from: ~4% (lowest PD decile) to ~45% (highest PD decile)  Strong separation across risk bands KS ≈ 30 Answer to Q1: Yes. The model consistently ranks borrowers from safer to riskier, with default rates increasing sharply across risk groups. This provides a reliable basis for approval and policy decisions</vt:lpstr>
      <vt:lpstr>ANSWERING Q2: RISK CONCENTRATION (GRADE × TERM)</vt:lpstr>
      <vt:lpstr>Average Expected Loss by Grade  Expected loss increases sharply from Grade A → G  Lower grades contribute disproportionately higher loss per loan  Answer to Q2 (Part 2): ✔ Loss is driven by risk layering — weak borrower quality combined with longer exposure duration.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Adebukola Aina</dc:creator>
  <cp:lastModifiedBy>Adebukola Aina</cp:lastModifiedBy>
  <cp:revision>4</cp:revision>
  <dcterms:created xsi:type="dcterms:W3CDTF">2026-01-20T04:28:24Z</dcterms:created>
  <dcterms:modified xsi:type="dcterms:W3CDTF">2026-01-21T22:29:40Z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